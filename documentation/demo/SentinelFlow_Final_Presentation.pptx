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name and one-line description before diving in.</a:t>
            </a:r>
          </a:p>
          <a:p>
            <a:r>
              <a:t>State plainly: this is an event-driven security monitoring platform, not a general SIEM replacement.</a:t>
            </a:r>
          </a:p>
          <a:p>
            <a:r>
              <a:t>Mention the five-word chain across the bottom as the roadmap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security events never stop — the challenge is turning volume into decisions.</a:t>
            </a:r>
          </a:p>
          <a:p>
            <a:r>
              <a:t>Emphasize: an isolated event is rarely anomalous by itself; context and history matter.</a:t>
            </a:r>
          </a:p>
          <a:p>
            <a:r>
              <a:t>Name the four things an analyst actually needs: correlation, risk scoring, alerting, incident grouping.</a:t>
            </a:r>
          </a:p>
          <a:p>
            <a:r>
              <a:t>Bridge to physical telemetry — SentinelFlow does not only work on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six design goals, not a feature list.</a:t>
            </a:r>
          </a:p>
          <a:p>
            <a:r>
              <a:t>Stress 'neither detector is a single point of failure' — this is revisited again on the detection-engine slide.</a:t>
            </a:r>
          </a:p>
          <a:p>
            <a:r>
              <a:t>Physical telemetry is a genuine differentiator versus a purely simulator-driven student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along the top pipeline once, slowly.</a:t>
            </a:r>
          </a:p>
          <a:p>
            <a:r>
              <a:t>Call out explicitly that there are TWO independent event sources feeding the same pipeline.</a:t>
            </a:r>
          </a:p>
          <a:p>
            <a:r>
              <a:t>The bottom four boxes are the single most important slide-level idea: each component has one job, and none of them overlaps another's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diagram top to bottom exactly once, out loud, before discussing any box in detail.</a:t>
            </a:r>
          </a:p>
          <a:p>
            <a:r>
              <a:t>Two sources at the top publish the identical canonical event envelope.</a:t>
            </a:r>
          </a:p>
          <a:p>
            <a:r>
              <a:t>The single most important branch point: Spring Boot fans out to ML AND rules — both run on every event, independent of each other.</a:t>
            </a:r>
          </a:p>
          <a:p>
            <a:r>
              <a:t>Everything converges back into PostgreSQL, which both the SOC console and Spring AI read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consumer never silently drops an event: it ends up PROCESSED or FAILED, always queryable.</a:t>
            </a:r>
          </a:p>
          <a:p>
            <a:r>
              <a:t>ML and rules run in the same step — not sequential, not one gating the other.</a:t>
            </a:r>
          </a:p>
          <a:p>
            <a:r>
              <a:t>Mention the exact numbers: 2 retries, 1 second backoff, then dead-letter — shows this was engineered, not assumed.</a:t>
            </a:r>
          </a:p>
          <a:p>
            <a:r>
              <a:t>Idempotency matters because the REST path persists an event before publishing it to Kafka, so duplicate processing is a real possibility that had to be handled.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clearly: the ML service could be swapped or taken down and Spring Boot's own workflow logic would not need to change.</a:t>
            </a:r>
          </a:p>
          <a:p>
            <a:r>
              <a:t>Walk the three-row mapping table — this is the exact, only mapping that exists in code.</a:t>
            </a:r>
          </a:p>
          <a:p>
            <a:r>
              <a:t>Do not let anyone assume ML-4/ML-5 numbers are 'the model in production' — the amber box exists specifically to pre-empt that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differentiator slide — spend real time here.</a:t>
            </a:r>
          </a:p>
          <a:p>
            <a:r>
              <a:t>Both rules reuse the identical Alert/Incident/AuditLog machinery an ML alert uses — no special-cased UI path.</a:t>
            </a:r>
          </a:p>
          <a:p>
            <a:r>
              <a:t>Emphasize the 'ML asks / Rules ask' framing — it is the cleanest way to explain why both exist.</a:t>
            </a:r>
          </a:p>
          <a:p>
            <a:r>
              <a:t>Note that a rule-raised alert is unambiguously distinguishable by decision=SUSPICIOUS and detectionType=RULE.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this is REAL telemetry from an actual machine, not another simulator — a genuine differentiator.</a:t>
            </a:r>
          </a:p>
          <a:p>
            <a:r>
              <a:t>The three pollers run on independent cadences because their own costs differ (measured, not guessed).</a:t>
            </a:r>
          </a:p>
          <a:p>
            <a:r>
              <a:t>Be upfront about the username-format limitation — it's a known, reported boundary, not a hidden bug.</a:t>
            </a:r>
          </a:p>
          <a:p>
            <a:r>
              <a:t>Closing line: this collector observes; Spring Boot and ML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both diagrams only allow forward transitions — an illegal move is rejected with 409, not silently accepted.</a:t>
            </a:r>
          </a:p>
          <a:p>
            <a:r>
              <a:t>The 'incident synchronizes alerts' line is important: moving an incident to RESOLVED resolves every open alert under it in the same request.</a:t>
            </a:r>
          </a:p>
          <a:p>
            <a:r>
              <a:t>Be careful not to call this 'automatic response' — it is lifecycle bookkeeping, not remediation.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explicitly: Spring AI is investigation assistance, not a second detector.</a:t>
            </a:r>
          </a:p>
          <a:p>
            <a:r>
              <a:t>The 'cannot mutate state' point is structural — the class literally has no dependency capable of writing to the database.</a:t>
            </a:r>
          </a:p>
          <a:p>
            <a:r>
              <a:t>Mention prompt-injection defense only briefly: attacker-controlled event fields are sanitized and fenced before ever reaching a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views quickly — this slide is a coverage map, not a deep dive.</a:t>
            </a:r>
          </a:p>
          <a:p>
            <a:r>
              <a:t>The two-correlation-mechanisms box is the one thing worth dwelling on: they solve different problems and neither replaces the other.</a:t>
            </a:r>
          </a:p>
          <a:p>
            <a:r>
              <a:t>No screenshots on this slide by design — avoids anything that could look like a fabricated dashboard; offer to switch to the live application for a real walkthrough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supporting slide — move through it briskly, it exists to pre-empt security questions.</a:t>
            </a:r>
          </a:p>
          <a:p>
            <a:r>
              <a:t>If asked 'is POST /events secured', answer honestly: it is deliberately public because neither producer can authenticate — an accepted, documented residual risk, not 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three stat cards — these are exact, re-verified counts, not approximations.</a:t>
            </a:r>
          </a:p>
          <a:p>
            <a:r>
              <a:t>Every checkmark below is a LIVE result recorded in the validation report, not a unit-test assertion — say so explicitly.</a:t>
            </a:r>
          </a:p>
          <a:p>
            <a:r>
              <a:t>If asked for a specific number beyond what's on screen, defer to the written validation report rather than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words 'live demonstration flow' out loud — do not imply this is a pre-recorded result.</a:t>
            </a:r>
          </a:p>
          <a:p>
            <a:r>
              <a:t>Demos 3 and 4 are the deterministic-rule proof points; demo 2 is the ML proof point — keep them visibly separate.</a:t>
            </a:r>
          </a:p>
          <a:p>
            <a:r>
              <a:t>If live demo time is short, demos 3, 5, and 6 are the highest-value three to actually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capability, not performance numbers — deliberately no accuracy/precision claims here.</a:t>
            </a:r>
          </a:p>
          <a:p>
            <a:r>
              <a:t>Every line maps to something demonstrated in an earlier slide; this is a recap, not new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slide calmly — it demonstrates engineering maturity, not weakness.</a:t>
            </a:r>
          </a:p>
          <a:p>
            <a:r>
              <a:t>If a reviewer probes any one limitation, you can point to the exact documentation file it came from.</a:t>
            </a:r>
          </a:p>
          <a:p>
            <a:r>
              <a:t>The 'two unused tables' point shows the documentation process itself was rigorous — it was verified by checking for a writer, not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left column brief — it is a recap, the right column is the actual content of this slide.</a:t>
            </a:r>
          </a:p>
          <a:p>
            <a:r>
              <a:t>Every future-work item traces directly to FUTURE-ROADMAP.md — none of it is presented as already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this slide slowly — it is the one-breath summary of the entire project.</a:t>
            </a:r>
          </a:p>
          <a:p>
            <a:r>
              <a:t>The three closing numbers are exact: 190+97=287 automated tests, 2 detection paths (ML + rules), 3 telemetry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floor. Keep VIVA_NOTES.md nearby for quick, source-grounded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alibri"/>
              </a:rPr>
              <a:t>FINAL-YEAR B.TECH COMPUTER SCIENCE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E5E7EB"/>
                </a:solidFill>
                <a:latin typeface="Calibri"/>
              </a:rPr>
              <a:t>SentinelFlow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8716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CA3AF"/>
                </a:solidFill>
                <a:latin typeface="Calibri"/>
              </a:rPr>
              <a:t>Behavioral Security Event Monitoring &amp; Anomaly Response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429000"/>
            <a:ext cx="1942185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Event Streaming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3433" y="36210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4601" y="3429000"/>
            <a:ext cx="1942185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Behavioral 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26787" y="36210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27955" y="3429000"/>
            <a:ext cx="1942185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Deterministic Rules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70140" y="36210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71308" y="3429000"/>
            <a:ext cx="1942185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Incident Correlation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13494" y="362102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4662" y="3429000"/>
            <a:ext cx="1942185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AI-Assisted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805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CA3AF"/>
                </a:solidFill>
                <a:latin typeface="Consolas"/>
              </a:rPr>
              <a:t>Spring Boot  ·  Apache Kafka  ·  PostgreSQL  ·  Python ML Service  ·  React SOC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Raw Security Telemetry Is Not the Same as 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7EB"/>
                </a:solidFill>
                <a:latin typeface="Calibri"/>
              </a:rPr>
              <a:t>Security-relevant events (logins, process activity, network connections) are generated continuously, from multiple independent sources.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7EB"/>
                </a:solidFill>
                <a:latin typeface="Calibri"/>
              </a:rPr>
              <a:t>Viewed in isolation, a single event rarely looks suspicious — the signal is in the pattern, not the event.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7EB"/>
                </a:solidFill>
                <a:latin typeface="Calibri"/>
              </a:rPr>
              <a:t>A high volume of raw events makes manual investigation slow and error-prone without automatic correlation.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7EB"/>
                </a:solidFill>
                <a:latin typeface="Calibri"/>
              </a:rPr>
              <a:t>Analysts need standing risk judgement, alert-to-incident grouping, and explainable evidence — not just a log stream.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7EB"/>
                </a:solidFill>
                <a:latin typeface="Calibri"/>
              </a:rPr>
              <a:t>Physical host telemetry (real logins, processes, network activity) adds a genuine, high-volume real-world data source that must be normalized the same way as synthetic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074920"/>
            <a:ext cx="3521354" cy="7772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Raw Security Events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4274" y="5372100"/>
            <a:ext cx="31089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5170" y="5074920"/>
            <a:ext cx="3521354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Noise / Volume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56524" y="5372100"/>
            <a:ext cx="31089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7420" y="5074920"/>
            <a:ext cx="3521354" cy="7772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Difficult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Why SentinelFlow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Behavioral anomaly detection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learn what normal looks like per entity, not fixed thresholds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Real-time event processing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Kafka-driven pipeline, not batch log review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ML + deterministic rules together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neither detector is a single point of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81328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Real physical telemetry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genuine host signals, not only simulated data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Alert &amp; incident correlation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group related signals instead of a flat alert list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5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E5E7EB"/>
                </a:solidFill>
                <a:latin typeface="Calibri"/>
              </a:rPr>
              <a:t>Explainable investigation assistance  </a:t>
            </a:r>
            <a:r>
              <a:rPr sz="1500" b="0" i="0">
                <a:solidFill>
                  <a:srgbClr val="9CA3AF"/>
                </a:solidFill>
                <a:latin typeface="Calibri"/>
              </a:rPr>
              <a:t>evidence-grounded AI, SOC-style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One Pipeline, Two Independent Judgements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Sources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41131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4011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Kafka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2223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5103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Spring Boot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83315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66195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PostgreSQL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ML Service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25499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08379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Risk /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46591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471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Alert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267683" y="171907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50563" y="1481328"/>
            <a:ext cx="1238211" cy="65836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Incident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50008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Two Event Sources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Simulator  +  Physical Telemetry Collector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350008"/>
            <a:ext cx="4160520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Incident → Spring AI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investigation / explanation assistance, read-only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2350008"/>
            <a:ext cx="3337560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Incident → React SOC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analyst-facing dashboard &amp; triage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01568"/>
            <a:ext cx="270502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 i="0">
                <a:solidFill>
                  <a:srgbClr val="22D3EE"/>
                </a:solidFill>
                <a:latin typeface="Calibri"/>
              </a:rPr>
              <a:t>ML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behavioral anomaly detection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5103" y="3401568"/>
            <a:ext cx="270502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 i="0">
                <a:solidFill>
                  <a:srgbClr val="34D399"/>
                </a:solidFill>
                <a:latin typeface="Calibri"/>
              </a:rPr>
              <a:t>Spring Boot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business / security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1567" y="3401568"/>
            <a:ext cx="270502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 i="0">
                <a:solidFill>
                  <a:srgbClr val="F59E0B"/>
                </a:solidFill>
                <a:latin typeface="Calibri"/>
              </a:rPr>
              <a:t>Deterministic rules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explicit security conditions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38031" y="3401568"/>
            <a:ext cx="270502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 i="0">
                <a:solidFill>
                  <a:srgbClr val="A78BFA"/>
                </a:solidFill>
                <a:latin typeface="Calibri"/>
              </a:rPr>
              <a:t>Spring AI</a:t>
            </a:r>
          </a:p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investigation / explanation assistance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Component View &amp; Data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Python Simulator
(source: python-simulator)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09618" y="167335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2498" y="1481328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Physical Collector
(source: physical-collector)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99196" y="1673352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82076" y="1481328"/>
            <a:ext cx="3606698" cy="566928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In-Console Simulator
(source: simulator)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67831" y="2103120"/>
            <a:ext cx="256032" cy="18288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340864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Kafka  —  raw.events.v1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+ raw.events.v1.DLT dead-letter topic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67831" y="2962656"/>
            <a:ext cx="256032" cy="18288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80" y="3200400"/>
            <a:ext cx="630936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Spring Boot — EventProcessingService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idempotent persist → runs BOTH detectors unconditionally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663440" y="3822192"/>
            <a:ext cx="256032" cy="16459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7315200" y="3822192"/>
            <a:ext cx="256032" cy="164592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404164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22D3EE"/>
                </a:solidFill>
                <a:latin typeface="Calibri"/>
              </a:rPr>
              <a:t>ML Service (FastAPI)</a:t>
            </a:r>
          </a:p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behavioral-anomaly-ensemble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4164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F59E0B"/>
                </a:solidFill>
                <a:latin typeface="Calibri"/>
              </a:rPr>
              <a:t>Deterministic Rule Engine</a:t>
            </a:r>
          </a:p>
          <a:p>
            <a:pPr algn="ctr"/>
            <a:r>
              <a:rPr sz="950" b="0" i="0">
                <a:solidFill>
                  <a:srgbClr val="9CA3AF"/>
                </a:solidFill>
                <a:latin typeface="Calibri"/>
              </a:rPr>
              <a:t>AUTH_BURST · NEW_PROCESS_EXTERNAL_CONNECTION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663440" y="4663440"/>
            <a:ext cx="256032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7315200" y="4663440"/>
            <a:ext cx="256032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4864608"/>
            <a:ext cx="4251960" cy="4572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Alert  →  Incident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194560" y="536752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89320" y="536752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9418320" y="536752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555040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E5E7EB"/>
                </a:solidFill>
                <a:latin typeface="Calibri"/>
              </a:rPr>
              <a:t>PostgreSQL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550408"/>
            <a:ext cx="3383280" cy="4572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Spring AI (OpenRouter)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5550408"/>
            <a:ext cx="3566160" cy="4572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React SOC Console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EVENT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From Canonical Event to Investigable Incident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Event 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41131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4011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Canonical
Event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62223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5103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Kafka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83315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66195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Spring Boot
Consumer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04407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ML + Rules
(parallel)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25499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08379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Alert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46591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471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Incident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267683" y="1700784"/>
            <a:ext cx="182880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50563" y="1481328"/>
            <a:ext cx="1238211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E5E7EB"/>
                </a:solidFill>
                <a:latin typeface="Calibri"/>
              </a:rPr>
              <a:t>SOC /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0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alibri"/>
              </a:rPr>
              <a:t>Reliability mechanisms actually implemented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15768"/>
            <a:ext cx="5455767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Processing status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PENDING → PROCESSED / FAILED, durable per event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1567" y="2715768"/>
            <a:ext cx="5455767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Retry + dead-letter topic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 retries (1s backoff) then raw.events.v1.DLT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49040"/>
            <a:ext cx="5455767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Idempotency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unique on eventId, and on (event, model, version) for predictions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1567" y="3749040"/>
            <a:ext cx="5455767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Audit logging</a:t>
            </a:r>
          </a:p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every status change, detection, and failure is recorded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ML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External Service, Independently Versioned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E5E7EB"/>
                </a:solidFill>
                <a:latin typeface="Calibri"/>
              </a:rPr>
              <a:t>External dependency  </a:t>
            </a:r>
            <a:r>
              <a:rPr sz="1350" b="0" i="0">
                <a:solidFill>
                  <a:srgbClr val="9CA3AF"/>
                </a:solidFill>
                <a:latin typeface="Calibri"/>
              </a:rPr>
              <a:t>the ML service is a separate FastAPI process; Spring Boot calls it over HTTP, never embeds 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E5E7EB"/>
                </a:solidFill>
                <a:latin typeface="Calibri"/>
              </a:rPr>
              <a:t>Live production model  </a:t>
            </a:r>
            <a:r>
              <a:rPr sz="1350" b="0" i="0">
                <a:solidFill>
                  <a:srgbClr val="9CA3AF"/>
                </a:solidFill>
                <a:latin typeface="Calibri"/>
              </a:rPr>
              <a:t>models/pipeline.joblib — the only artifact api.py actually loads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E5E7EB"/>
                </a:solidFill>
                <a:latin typeface="Calibri"/>
              </a:rPr>
              <a:t>Behavioral ensemble  </a:t>
            </a:r>
            <a:r>
              <a:rPr sz="1350" b="0" i="0">
                <a:solidFill>
                  <a:srgbClr val="9CA3AF"/>
                </a:solidFill>
                <a:latin typeface="Calibri"/>
              </a:rPr>
              <a:t>baseline + isolation forest + sequence autoencoder, fused into one anomaly score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E5E7EB"/>
                </a:solidFill>
                <a:latin typeface="Calibri"/>
              </a:rPr>
              <a:t>Attack classification  </a:t>
            </a:r>
            <a:r>
              <a:rPr sz="1350" b="0" i="0">
                <a:solidFill>
                  <a:srgbClr val="9CA3AF"/>
                </a:solidFill>
                <a:latin typeface="Calibri"/>
              </a:rPr>
              <a:t>reported when the model's own classifier identifies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81328"/>
            <a:ext cx="5303520" cy="4572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ML Decision → Platform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29968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 i="0">
                <a:solidFill>
                  <a:srgbClr val="E5E7EB"/>
                </a:solidFill>
                <a:latin typeface="Calibri"/>
              </a:rPr>
              <a:t>NORMAL</a:t>
            </a:r>
          </a:p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→  DecisionState.NORMAL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61488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 i="0">
                <a:solidFill>
                  <a:srgbClr val="34D399"/>
                </a:solidFill>
                <a:latin typeface="Calibri"/>
              </a:rPr>
              <a:t>ANOMALOUS + attack type</a:t>
            </a:r>
          </a:p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→  KNOWN_ANOMALY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93008"/>
            <a:ext cx="5303520" cy="62179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50" b="1" i="0">
                <a:solidFill>
                  <a:srgbClr val="F59E0B"/>
                </a:solidFill>
                <a:latin typeface="Calibri"/>
              </a:rPr>
              <a:t>ANOMALOUS + no attack type</a:t>
            </a:r>
          </a:p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→  UNKNOWN_ANOMALY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3616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CA3AF"/>
                </a:solidFill>
                <a:latin typeface="Calibri"/>
              </a:rPr>
              <a:t>SUSPICIOUS is reserved for the rule path only — the ML mapping never produces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5855" cy="621792"/>
          </a:xfrm>
          <a:prstGeom prst="roundRect">
            <a:avLst/>
          </a:prstGeom>
          <a:solidFill>
            <a:srgbClr val="151A21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Experimental vs. deployed: </a:t>
            </a:r>
            <a:r>
              <a:rPr sz="1300" b="0" i="0">
                <a:solidFill>
                  <a:srgbClr val="E5E7EB"/>
                </a:solidFill>
                <a:latin typeface="Calibri"/>
              </a:rPr>
              <a:t>ML-3 / ML-4 / ML-5 are evaluation-only candidates — none are loaded by the live service. Only pipeline.joblib is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DETERMINISTIC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An Independent, ML-Free Safety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5455767" cy="18288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AUTH_BURST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Repeated failed-login attempts for one entity within a 5-minute window (≥ 5 failures → MEDIUM, ≥ 10 → HIGH). Suppressed while an alert is already active.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481328"/>
            <a:ext cx="5455767" cy="18288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NEW_PROCESS_EXTERNAL_CONNECTION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A newly created process (matched by pid + createTime, exact) establishes a non-loopback network connection within 5 minutes of starting.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38728"/>
            <a:ext cx="5455767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ML asks:</a:t>
            </a:r>
          </a:p>
          <a:p>
            <a:pPr algn="ctr"/>
            <a:r>
              <a:rPr sz="1300" b="0" i="0">
                <a:solidFill>
                  <a:srgbClr val="E5E7EB"/>
                </a:solidFill>
                <a:latin typeface="Calibri"/>
              </a:rPr>
              <a:t>"Does this behavior look statistically anomalous?"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538728"/>
            <a:ext cx="5455767" cy="77724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Rules ask:</a:t>
            </a:r>
          </a:p>
          <a:p>
            <a:pPr algn="ctr"/>
            <a:r>
              <a:rPr sz="1300" b="0" i="0">
                <a:solidFill>
                  <a:srgbClr val="E5E7EB"/>
                </a:solidFill>
                <a:latin typeface="Calibri"/>
              </a:rPr>
              <a:t>"Did this explicit security condition occur?"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98848"/>
            <a:ext cx="2563291" cy="5486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Event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6211" y="4681728"/>
            <a:ext cx="31089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7107" y="4498848"/>
            <a:ext cx="2563291" cy="5486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Rule Evaluation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0399" y="4681728"/>
            <a:ext cx="31089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1295" y="4498848"/>
            <a:ext cx="2563291" cy="5486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Alert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14587" y="4681728"/>
            <a:ext cx="310896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25483" y="4498848"/>
            <a:ext cx="2563291" cy="5486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Incident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Rule ID /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39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Severity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8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7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Suppression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996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Idempotency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15" y="527608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50" b="1" i="0">
                <a:solidFill>
                  <a:srgbClr val="E5E7EB"/>
                </a:solidFill>
                <a:latin typeface="Calibri"/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PHYSICAL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Genuine Host Signals via psutil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Windows Host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50008" y="202996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Physical Collector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50008" y="289864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081528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Session Poller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LOGIN / LOGOUT — 5s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58184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Process Poller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PROCESS_START — 15s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34840"/>
            <a:ext cx="3931920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Network Poller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NETWORK_CONNECTION — 30s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350008" y="5157216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5340096"/>
            <a:ext cx="3931920" cy="50292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34D399"/>
                </a:solidFill>
                <a:latin typeface="Calibri"/>
              </a:rPr>
              <a:t>Canonical Events → Kafka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48132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alibri"/>
              </a:rPr>
              <a:t>Characteristics &amp;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47088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Non-admin collection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psutil only — deliberately not the Windows Security Event Log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Stable host identity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entityId = HOST-&lt;hostname&gt;, deterministic across restarts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Process/network correlation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exact match on (pid, processCreateTime) — no time tolerance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Silent startup baseline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process &amp; network pollers report nothing on their first poll (avoids a restart flood); session poller reports existing sessions as LOGIN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Known limitation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LOGIN and PROCESS_START report username in different formats on this platform — correlation by username does not currently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9893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F59E0B"/>
                </a:solidFill>
                <a:latin typeface="Calibri"/>
              </a:rPr>
              <a:t>Observed host telemetry, not complete OS security auditing.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ALERT &amp; INCIDENT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Validated Status Lifecycles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alibri"/>
              </a:rPr>
              <a:t>Alert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76236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OPEN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9156" y="200253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0324" y="1828800"/>
            <a:ext cx="2076236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ACKNOWLEDGED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56561" y="200253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57729" y="1828800"/>
            <a:ext cx="2076236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INVESTIGATING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3965" y="200253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35133" y="1828800"/>
            <a:ext cx="2076236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RESOLVED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11370" y="200253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12538" y="1828800"/>
            <a:ext cx="2076236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CLOSED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414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CA3AF"/>
                </a:solidFill>
                <a:latin typeface="Calibri"/>
              </a:rPr>
              <a:t>( OPEN / ACKNOWLEDGED / INVESTIGATING can also terminate directly at FALSE_POSITIVE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986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Calibri"/>
              </a:rPr>
              <a:t>Incident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1792224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OPEN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295144" y="341985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496312" y="3246120"/>
            <a:ext cx="1792224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INVESTIGATING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88536" y="341985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9704" y="3246120"/>
            <a:ext cx="1792224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RESOLVED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281928" y="3419856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3096" y="3246120"/>
            <a:ext cx="1792224" cy="530352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E5E7EB"/>
                </a:solidFill>
                <a:latin typeface="Calibri"/>
              </a:rPr>
              <a:t>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5876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CA3AF"/>
                </a:solidFill>
                <a:latin typeface="Calibri"/>
              </a:rPr>
              <a:t>Moving an incident's status synchronizes every linked alert's status automatically.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Many-to-one grouping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multiple alerts can belong to one incident (keyed on entityId : eventType)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ML and rule alerts coexist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in the same incident, clearly labeled by detectionType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Source preserved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an incident records every distinct telemetry source among its alerts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Full audit trail + suppression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every status change is logged; a rule will not re-fire while its alert is already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SPRING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Evidence-Grounded Investigation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1481328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Incident / Alert Evidence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1888" y="202996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2212848"/>
            <a:ext cx="4114800" cy="50292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A78BFA"/>
                </a:solidFill>
                <a:latin typeface="Calibri"/>
              </a:rPr>
              <a:t>Spring AI (OpenRouter)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1888" y="2898648"/>
            <a:ext cx="237744" cy="146304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08152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A78BFA"/>
                </a:solidFill>
                <a:latin typeface="Calibri"/>
              </a:rPr>
              <a:t>Explanation</a:t>
            </a:r>
          </a:p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why this alert / incident fired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498" y="308152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A78BFA"/>
                </a:solidFill>
                <a:latin typeface="Calibri"/>
              </a:rPr>
              <a:t>Evidence Summary</a:t>
            </a:r>
          </a:p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facts only, no interpretation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2076" y="3081528"/>
            <a:ext cx="3606698" cy="91440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 i="0">
                <a:solidFill>
                  <a:srgbClr val="A78BFA"/>
                </a:solidFill>
                <a:latin typeface="Calibri"/>
              </a:rPr>
              <a:t>Investigation Recommendations</a:t>
            </a:r>
          </a:p>
          <a:p>
            <a:pPr algn="ctr"/>
            <a:r>
              <a:rPr sz="1100" b="0" i="0">
                <a:solidFill>
                  <a:srgbClr val="E5E7EB"/>
                </a:solidFill>
                <a:latin typeface="Calibri"/>
              </a:rPr>
              <a:t>advisory next steps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8"/>
            <a:ext cx="1118585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4 read-only endpoints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POST .../alerts/{id}/ai/explanation and 3 incident endpoints (explanation, evidence-summary, investigation)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Not the primary detector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it only explains evidence the ML model and rule engine already produced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Cannot mutate state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no repository / ML-client / service dependency in its constructors — a structural guarantee, not a policy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E5E7EB"/>
                </a:solidFill>
                <a:latin typeface="Calibri"/>
              </a:rPr>
              <a:t>Grounded &amp; defended  </a:t>
            </a:r>
            <a:r>
              <a:rPr sz="1300" b="0" i="0">
                <a:solidFill>
                  <a:srgbClr val="9CA3AF"/>
                </a:solidFill>
                <a:latin typeface="Calibri"/>
              </a:rPr>
              <a:t>every attacker-reachable field is sanitized and wrapped in &lt;&lt;&lt;EVIDENCE&gt;&gt;&gt; markers the model is told never to obey as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SOC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React Console for Analyst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5811" y="1481328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2982" y="1481328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Event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153" y="1481328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97324" y="1481328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Alert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76272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Incidents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5811" y="2176272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Incident 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2982" y="2176272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Entities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153" y="2176272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Entity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7324" y="2176272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Simulator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71216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Replay Runs (admin)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5811" y="2871216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Audit Logs (admin)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2982" y="2871216"/>
            <a:ext cx="2145731" cy="56692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E5E7EB"/>
                </a:solidFill>
                <a:latin typeface="Calibri"/>
              </a:rPr>
              <a:t>System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947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alibri"/>
              </a:rPr>
              <a:t>Two different, explicitly distinct correlation mechanisms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Backend: Alert → Incident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Persisted, keyed on entityId : eventType — the security triage grouping.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160520"/>
            <a:ext cx="5455767" cy="105156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22D3EE"/>
                </a:solidFill>
                <a:latin typeface="Calibri"/>
              </a:rPr>
              <a:t>Frontend: Related Activity</a:t>
            </a:r>
          </a:p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Computed client-side at read time over already-fetched events — a presentation convenience, never persisted.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Implemented, Not Aspirational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7784" y="148132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HTTP Basic Auth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stateless filter chain, two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4955" y="148132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BCrypt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passwords hashed at startup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2126" y="148132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ADMIN / ANALYST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least-privilege endpoint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297" y="148132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Correlation IDs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X-Correlation-Id in every log line &amp;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6468" y="148132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Audit logging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status changes, detections,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" y="280720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Kafka acks + idempotence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producer acks=all, enable.idempotence=true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4955" y="280720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Retry + DLT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2 retries, then dead-letter topic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2126" y="280720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Liveness / readiness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Actuator probes, DB-aware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297" y="280720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Protected Actuator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metrics/info require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6468" y="2807208"/>
            <a:ext cx="2127443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Structured 401 / 403</a:t>
            </a:r>
          </a:p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same ErrorResponse shape as every other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Automated Tests + Live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545738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190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Backend automated tests
(unit + security-slice + embedded Kafka)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481328"/>
            <a:ext cx="3545738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97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Physical collector tests
(unit + live Kafka integration)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481328"/>
            <a:ext cx="3545738" cy="11887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✓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Frontend typecheck
+ production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986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alibri"/>
              </a:rPr>
              <a:t>Live, evidence-based validation (see FINAL_VALIDATION_REPORT.md)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644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36976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Physical telemetry end-to-end (real PROCESS_START/LOGIN events, &lt;1s to persisted)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8503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60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Deterministic rule fired organically (NEW_PROCESS_EXTERNAL_CONNECTION, real java.exe connection)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0565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78224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ML detection fired organically (KNOWN_ANOMALY, real credential-stuffing classification)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498848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Alert → Incident correlation (116-alert incident observed; multi-source incident observed)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469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91947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Real Spring AI calls (OpenRouter, not mocked) — grounded, state unchanged after every 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675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300" b="1" i="0">
                <a:solidFill>
                  <a:srgbClr val="0B0D10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40096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5E7EB"/>
                </a:solidFill>
                <a:latin typeface="Calibri"/>
              </a:rPr>
              <a:t>Security checks (401 / 403 / 200 across ANALYST &amp; ADMIN roles, verified live)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Live Demonstration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CA3AF"/>
                </a:solidFill>
                <a:latin typeface="Calibri"/>
              </a:rPr>
              <a:t>The sequence below is the planned live demo path (see DEMO_RUNBOOK.md) — labeled as a flow, not a claim that every step has already been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892808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Normal event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routine login / activity → no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8775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514600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ML anomaly → Alert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behaviorally unusual event scored by the ensemble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09544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136392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Failed-login burst → AUTH_BURST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deterministic rule fires independently of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31336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758184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Process → external connection → Alert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NEW_PROCESS_EXTERNAL_CONNECTION rule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531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379976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Multiple alerts → Incident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automatic correlation by entity + event 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749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5001768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Spring AI investigation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explanation / evidence-summary / investigation,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96712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400" b="1" i="0">
                <a:solidFill>
                  <a:srgbClr val="0B0D10"/>
                </a:solidFill>
                <a:latin typeface="Calibri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623560"/>
            <a:ext cx="10637215" cy="566928"/>
          </a:xfrm>
          <a:prstGeom prst="roundRect">
            <a:avLst/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350" b="1" i="0">
                <a:solidFill>
                  <a:srgbClr val="E5E7EB"/>
                </a:solidFill>
                <a:latin typeface="Calibri"/>
              </a:rPr>
              <a:t>SOC dashboard walkthrough   </a:t>
            </a:r>
            <a:r>
              <a:rPr sz="1200" b="0" i="0">
                <a:solidFill>
                  <a:srgbClr val="9CA3AF"/>
                </a:solidFill>
                <a:latin typeface="Calibri"/>
              </a:rPr>
              <a:t>incident detail + related-activity correlation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What the Platform Achieves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" y="1481328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End-to-end event pipeline, source to SOC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4690" y="1481328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Reliable Kafka processing (retry + dead-letter)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3308" y="1481328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PostgreSQL persistence with 14 versioned migrations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496312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Production ML integration (external, swappable)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2496312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Independent deterministic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3308" y="2496312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Real physical host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" y="3511296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Validated alert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4690" y="3511296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Automatic incident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3308" y="3511296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Source-aware investigation tooling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" y="4526280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Spring AI investigation assistance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4526280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SOC visualization (13 console views)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3308" y="4526280"/>
            <a:ext cx="3582314" cy="86868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300" b="1" i="0">
                <a:solidFill>
                  <a:srgbClr val="E5E7EB"/>
                </a:solidFill>
                <a:latin typeface="Calibri"/>
              </a:rPr>
              <a:t>Enforced role-based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Engineering Boundaries, Stated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ML is an external dependency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an outage degrades ML-based detection; the rule engine keeps working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Physical telemetry is polling-based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activity between polls can be missed; not a kernel-level sensor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Not complete OS security auditing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observed host signals only — three event types, not full endpoint monitoring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Username/process correlation gap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LOGIN vs. PROCESS_START report username in different formats on this platform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ML has synthetic/generalization limits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documented in the ML project's own assumptions; scores run “hot” by nature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Two DB tables unused today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model_versions and feature_snapshots exist but no writer path was found in source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Rules cover specific conditions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two explicit rules, not general-purpose attack coverage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4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E5E7EB"/>
                </a:solidFill>
                <a:latin typeface="Calibri"/>
              </a:rPr>
              <a:t>No autonomous remediation 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every action — status change or AI recommendation — requires a human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E7EB"/>
                </a:solidFill>
                <a:latin typeface="Calibri"/>
              </a:rPr>
              <a:t>Beyond the Current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52728"/>
            <a:ext cx="10058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alibri"/>
              </a:rPr>
              <a:t>Already implemented (recap)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47088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Dual detection (ML + rules)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14016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Alert/incident 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980944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Physical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547872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Spring AI assistance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Role-based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81728"/>
            <a:ext cx="4206240" cy="475488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50" b="1" i="0">
                <a:solidFill>
                  <a:srgbClr val="E5E7EB"/>
                </a:solidFill>
                <a:latin typeface="Calibri"/>
              </a:rPr>
              <a:t>190 + 97 automated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481328"/>
            <a:ext cx="6705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Future work (not yet implemented)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847088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Richer physical telemetry (file/registry events, cross-platform collectors)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2423160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Stronger cross-event correlation; wire up model_versions / feature_snapshots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2999232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Model-promotion decision for ML candidates, after a fresh evaluation 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3575304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Live-traffic score-calibration re-tuning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4151376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Production hardening: CI/CD, secrets manager, TLS/reverse proxy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4727448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Expanded SOC capabilities: bulk actions, saved filters, exportable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5303520"/>
            <a:ext cx="6705295" cy="50292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50" b="1" i="0">
                <a:solidFill>
                  <a:srgbClr val="E5E7EB"/>
                </a:solidFill>
                <a:latin typeface="Calibri"/>
              </a:rPr>
              <a:t>Git LFS for large ML evaluation artifacts before first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E5E7EB"/>
                </a:solidFill>
                <a:latin typeface="Calibri"/>
              </a:rPr>
              <a:t>SentinelFlow brings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033625" cy="6858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Event
Streaming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3705" y="2034540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74873" y="1783080"/>
            <a:ext cx="2033625" cy="6858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Behavioral
ML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08499" y="2034540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09667" y="1783080"/>
            <a:ext cx="2033625" cy="6858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Deterministic
Detection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43292" y="2034540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44460" y="1783080"/>
            <a:ext cx="2033625" cy="6858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Incident
Correlation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78086" y="2034540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79254" y="1783080"/>
            <a:ext cx="2033625" cy="685800"/>
          </a:xfrm>
          <a:prstGeom prst="roundRect">
            <a:avLst>
              <a:gd name="adj" fmla="val 8000"/>
            </a:avLst>
          </a:prstGeom>
          <a:solidFill>
            <a:srgbClr val="1B212A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E5E7EB"/>
                </a:solidFill>
                <a:latin typeface="Calibri"/>
              </a:rPr>
              <a:t>AI-Assisted
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E5E7EB"/>
                </a:solidFill>
                <a:latin typeface="Calibri"/>
              </a:rPr>
              <a:t>into a unified, SOC-oriented security monitoring platform 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16052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2D3EE"/>
                </a:solidFill>
                <a:latin typeface="Calibri"/>
              </a:rPr>
              <a:t>built, tested, and documented end to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46808" y="507492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34D399"/>
                </a:solidFill>
                <a:latin typeface="Calibri"/>
              </a:rPr>
              <a:t>287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automated tests passing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7127" y="507492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22D3EE"/>
                </a:solidFill>
                <a:latin typeface="Calibri"/>
              </a:rPr>
              <a:t>2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independent detection paths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7447" y="507492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151A21"/>
          </a:solidFill>
          <a:ln w="12700">
            <a:solidFill>
              <a:srgbClr val="2A2F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3</a:t>
            </a:r>
          </a:p>
          <a:p>
            <a:pPr algn="ctr"/>
            <a:r>
              <a:rPr sz="1150" b="0" i="0">
                <a:solidFill>
                  <a:srgbClr val="9CA3AF"/>
                </a:solidFill>
                <a:latin typeface="Calibri"/>
              </a:rPr>
              <a:t>real telemetry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25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5176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E5E7EB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9CA3A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SentinelFlow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CA3A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